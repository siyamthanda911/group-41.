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FA10E4-E869-46BD-835C-3BB1B6E2027F}" v="2" dt="2026-10-27T11:35:03.3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8" autoAdjust="0"/>
    <p:restoredTop sz="93969" autoAdjust="0"/>
  </p:normalViewPr>
  <p:slideViewPr>
    <p:cSldViewPr snapToGrid="0" snapToObjects="1">
      <p:cViewPr>
        <p:scale>
          <a:sx n="75" d="100"/>
          <a:sy n="75" d="100"/>
        </p:scale>
        <p:origin x="516" y="22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uncedo Ntantala" userId="7340d70b-89d3-4b66-8350-ee2a3b57c727" providerId="ADAL" clId="{4CF09E5B-A213-4384-8790-2FA81BDD3AC9}"/>
    <pc:docChg chg="modSld">
      <pc:chgData name="Aluncedo Ntantala" userId="7340d70b-89d3-4b66-8350-ee2a3b57c727" providerId="ADAL" clId="{4CF09E5B-A213-4384-8790-2FA81BDD3AC9}" dt="2026-10-27T11:35:51.543" v="3"/>
      <pc:docMkLst>
        <pc:docMk/>
      </pc:docMkLst>
      <pc:sldChg chg="addSp delSp modSp">
        <pc:chgData name="Aluncedo Ntantala" userId="7340d70b-89d3-4b66-8350-ee2a3b57c727" providerId="ADAL" clId="{4CF09E5B-A213-4384-8790-2FA81BDD3AC9}" dt="2026-10-27T11:35:51.543" v="3"/>
        <pc:sldMkLst>
          <pc:docMk/>
          <pc:sldMk cId="0" sldId="257"/>
        </pc:sldMkLst>
        <pc:spChg chg="add del mod">
          <ac:chgData name="Aluncedo Ntantala" userId="7340d70b-89d3-4b66-8350-ee2a3b57c727" providerId="ADAL" clId="{4CF09E5B-A213-4384-8790-2FA81BDD3AC9}" dt="2026-10-27T11:35:02.442" v="1"/>
          <ac:spMkLst>
            <pc:docMk/>
            <pc:sldMk cId="0" sldId="257"/>
            <ac:spMk id="5" creationId="{EEC981EB-D367-DB50-FDC2-0ECF3A2A3CE2}"/>
          </ac:spMkLst>
        </pc:spChg>
        <pc:spChg chg="add del mod">
          <ac:chgData name="Aluncedo Ntantala" userId="7340d70b-89d3-4b66-8350-ee2a3b57c727" providerId="ADAL" clId="{4CF09E5B-A213-4384-8790-2FA81BDD3AC9}" dt="2026-10-27T11:35:51.543" v="3"/>
          <ac:spMkLst>
            <pc:docMk/>
            <pc:sldMk cId="0" sldId="257"/>
            <ac:spMk id="6" creationId="{34DDDDC7-F53E-59EC-E0D8-91FD64A7D93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5077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200" y="18745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MINING HEALTH, SAFETY &amp; EQUIPMENT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APPLICATION FLOWCHARTS</a:t>
            </a:r>
            <a:endParaRPr lang="en-US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6493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</a:t>
            </a:r>
            <a:r>
              <a:rPr lang="en-US" sz="20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Control </a:t>
            </a:r>
            <a:endParaRPr lang="en-US" sz="1300" dirty="0">
              <a:solidFill>
                <a:srgbClr val="002060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0972800" y="65288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64955"/>
            <a:ext cx="1127455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  <a:tailEnd type="none"/>
          </a:ln>
        </p:spPr>
        <p:txBody>
          <a:bodyPr/>
          <a:lstStyle/>
          <a:p>
            <a:endParaRPr lang="en-ZA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31A7BF7-0649-A447-BA14-F667DD53E803}"/>
              </a:ext>
            </a:extLst>
          </p:cNvPr>
          <p:cNvSpPr/>
          <p:nvPr/>
        </p:nvSpPr>
        <p:spPr>
          <a:xfrm>
            <a:off x="5115566" y="888746"/>
            <a:ext cx="1472043" cy="4100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55" name="Diamond 54">
            <a:extLst>
              <a:ext uri="{FF2B5EF4-FFF2-40B4-BE49-F238E27FC236}">
                <a16:creationId xmlns:a16="http://schemas.microsoft.com/office/drawing/2014/main" id="{FE8B75AD-54B7-2B0C-8DD2-40F7BFAB01CF}"/>
              </a:ext>
            </a:extLst>
          </p:cNvPr>
          <p:cNvSpPr/>
          <p:nvPr/>
        </p:nvSpPr>
        <p:spPr>
          <a:xfrm>
            <a:off x="4701487" y="2299823"/>
            <a:ext cx="2268626" cy="576975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500" dirty="0">
              <a:solidFill>
                <a:schemeClr val="tx1"/>
              </a:solidFill>
            </a:endParaRPr>
          </a:p>
          <a:p>
            <a:pPr algn="ctr"/>
            <a:r>
              <a:rPr lang="en-ZA" sz="1500" dirty="0">
                <a:solidFill>
                  <a:schemeClr val="tx1"/>
                </a:solidFill>
              </a:rPr>
              <a:t>First Account</a:t>
            </a:r>
          </a:p>
          <a:p>
            <a:pPr algn="ctr"/>
            <a:endParaRPr lang="en-ZA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4E33459-5BA6-3C46-67CB-AA9D62879C61}"/>
              </a:ext>
            </a:extLst>
          </p:cNvPr>
          <p:cNvSpPr/>
          <p:nvPr/>
        </p:nvSpPr>
        <p:spPr>
          <a:xfrm>
            <a:off x="2651609" y="2903689"/>
            <a:ext cx="2034089" cy="38935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admin approval</a:t>
            </a:r>
            <a:endParaRPr lang="en-US" sz="15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5E2E98-E3D6-5A87-2D12-9B5C95970885}"/>
              </a:ext>
            </a:extLst>
          </p:cNvPr>
          <p:cNvSpPr/>
          <p:nvPr/>
        </p:nvSpPr>
        <p:spPr>
          <a:xfrm>
            <a:off x="4791405" y="1587905"/>
            <a:ext cx="2120366" cy="42583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Create Account</a:t>
            </a:r>
            <a:endParaRPr lang="en-ZA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85A71DE-D104-0FE6-9874-5E693E397675}"/>
              </a:ext>
            </a:extLst>
          </p:cNvPr>
          <p:cNvCxnSpPr>
            <a:cxnSpLocks/>
            <a:stCxn id="55" idx="1"/>
          </p:cNvCxnSpPr>
          <p:nvPr/>
        </p:nvCxnSpPr>
        <p:spPr>
          <a:xfrm>
            <a:off x="4701487" y="2588311"/>
            <a:ext cx="0" cy="389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BC34F2E6-1769-3EB0-B8FA-101391FFD7A5}"/>
              </a:ext>
            </a:extLst>
          </p:cNvPr>
          <p:cNvSpPr/>
          <p:nvPr/>
        </p:nvSpPr>
        <p:spPr>
          <a:xfrm>
            <a:off x="7001691" y="2903689"/>
            <a:ext cx="1880036" cy="37475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approve(Administrator)</a:t>
            </a:r>
            <a:endParaRPr lang="en-ZA" sz="1100" dirty="0">
              <a:solidFill>
                <a:schemeClr val="tx1"/>
              </a:solidFill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C7BAE7F-B741-431C-3E3C-521C870D6D69}"/>
              </a:ext>
            </a:extLst>
          </p:cNvPr>
          <p:cNvCxnSpPr>
            <a:cxnSpLocks/>
          </p:cNvCxnSpPr>
          <p:nvPr/>
        </p:nvCxnSpPr>
        <p:spPr>
          <a:xfrm>
            <a:off x="5831487" y="1299992"/>
            <a:ext cx="0" cy="287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38CB1DD-000B-D89E-FB2F-639127EF2D05}"/>
              </a:ext>
            </a:extLst>
          </p:cNvPr>
          <p:cNvCxnSpPr>
            <a:cxnSpLocks/>
          </p:cNvCxnSpPr>
          <p:nvPr/>
        </p:nvCxnSpPr>
        <p:spPr>
          <a:xfrm>
            <a:off x="5851588" y="2021781"/>
            <a:ext cx="0" cy="287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4D98220-BAE7-543D-5F37-2FE9D9B49001}"/>
              </a:ext>
            </a:extLst>
          </p:cNvPr>
          <p:cNvCxnSpPr>
            <a:cxnSpLocks/>
          </p:cNvCxnSpPr>
          <p:nvPr/>
        </p:nvCxnSpPr>
        <p:spPr>
          <a:xfrm>
            <a:off x="6970113" y="2584493"/>
            <a:ext cx="0" cy="389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Diamond 76">
            <a:extLst>
              <a:ext uri="{FF2B5EF4-FFF2-40B4-BE49-F238E27FC236}">
                <a16:creationId xmlns:a16="http://schemas.microsoft.com/office/drawing/2014/main" id="{53BB4BAD-BBBE-2722-CF91-E29EC2FFE436}"/>
              </a:ext>
            </a:extLst>
          </p:cNvPr>
          <p:cNvSpPr/>
          <p:nvPr/>
        </p:nvSpPr>
        <p:spPr>
          <a:xfrm>
            <a:off x="4644634" y="4999261"/>
            <a:ext cx="2387801" cy="594554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Login in Correct </a:t>
            </a:r>
            <a:endParaRPr lang="en-ZA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075FE94F-1685-881C-B306-813072958F8D}"/>
              </a:ext>
            </a:extLst>
          </p:cNvPr>
          <p:cNvCxnSpPr>
            <a:cxnSpLocks/>
          </p:cNvCxnSpPr>
          <p:nvPr/>
        </p:nvCxnSpPr>
        <p:spPr>
          <a:xfrm>
            <a:off x="5831487" y="5542195"/>
            <a:ext cx="0" cy="4998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DAA1BA4E-3811-FA3E-6D3E-20E8F36BB1A3}"/>
              </a:ext>
            </a:extLst>
          </p:cNvPr>
          <p:cNvCxnSpPr>
            <a:cxnSpLocks/>
          </p:cNvCxnSpPr>
          <p:nvPr/>
        </p:nvCxnSpPr>
        <p:spPr>
          <a:xfrm>
            <a:off x="5838535" y="4588775"/>
            <a:ext cx="0" cy="425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50955BE1-4D51-593D-98CB-26200A561E03}"/>
              </a:ext>
            </a:extLst>
          </p:cNvPr>
          <p:cNvSpPr/>
          <p:nvPr/>
        </p:nvSpPr>
        <p:spPr>
          <a:xfrm>
            <a:off x="4733064" y="6017110"/>
            <a:ext cx="2034089" cy="49989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dashboard(based on role</a:t>
            </a:r>
            <a:endParaRPr lang="en-ZA" sz="1500" dirty="0">
              <a:solidFill>
                <a:schemeClr val="tx1"/>
              </a:solidFill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AF3E983-7078-5A0D-3107-F913B7F79C97}"/>
              </a:ext>
            </a:extLst>
          </p:cNvPr>
          <p:cNvCxnSpPr>
            <a:cxnSpLocks/>
          </p:cNvCxnSpPr>
          <p:nvPr/>
        </p:nvCxnSpPr>
        <p:spPr>
          <a:xfrm>
            <a:off x="5831487" y="3958860"/>
            <a:ext cx="0" cy="3057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C07B2C7D-9981-C81C-6B17-85688B7DA7DE}"/>
              </a:ext>
            </a:extLst>
          </p:cNvPr>
          <p:cNvSpPr/>
          <p:nvPr/>
        </p:nvSpPr>
        <p:spPr>
          <a:xfrm>
            <a:off x="4874325" y="4276554"/>
            <a:ext cx="1954526" cy="31222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in Successful</a:t>
            </a:r>
            <a:endParaRPr lang="en-ZA" sz="1500" dirty="0">
              <a:solidFill>
                <a:schemeClr val="tx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EF741D9-793A-7709-30A2-A05EFB2B2DD6}"/>
              </a:ext>
            </a:extLst>
          </p:cNvPr>
          <p:cNvSpPr/>
          <p:nvPr/>
        </p:nvSpPr>
        <p:spPr>
          <a:xfrm>
            <a:off x="4854224" y="3533551"/>
            <a:ext cx="1954526" cy="42530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in with username and Password</a:t>
            </a:r>
            <a:endParaRPr lang="en-ZA" sz="1400" dirty="0">
              <a:solidFill>
                <a:schemeClr val="tx1"/>
              </a:solidFill>
            </a:endParaRP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0B8B45A7-4030-5E2F-BD06-8D8EA3133C09}"/>
              </a:ext>
            </a:extLst>
          </p:cNvPr>
          <p:cNvCxnSpPr/>
          <p:nvPr/>
        </p:nvCxnSpPr>
        <p:spPr>
          <a:xfrm>
            <a:off x="6687378" y="6285640"/>
            <a:ext cx="7073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Oval 105">
            <a:extLst>
              <a:ext uri="{FF2B5EF4-FFF2-40B4-BE49-F238E27FC236}">
                <a16:creationId xmlns:a16="http://schemas.microsoft.com/office/drawing/2014/main" id="{4C0C595E-63EB-7A09-365D-39DA9DABC2A0}"/>
              </a:ext>
            </a:extLst>
          </p:cNvPr>
          <p:cNvSpPr/>
          <p:nvPr/>
        </p:nvSpPr>
        <p:spPr>
          <a:xfrm>
            <a:off x="7409684" y="6062012"/>
            <a:ext cx="1472043" cy="4100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End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F7825F2-805B-8876-C060-03754995AC9B}"/>
              </a:ext>
            </a:extLst>
          </p:cNvPr>
          <p:cNvSpPr txBox="1"/>
          <p:nvPr/>
        </p:nvSpPr>
        <p:spPr>
          <a:xfrm>
            <a:off x="4418369" y="2563725"/>
            <a:ext cx="629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52E3612-9B45-82E0-B224-BDEDA93CCA19}"/>
              </a:ext>
            </a:extLst>
          </p:cNvPr>
          <p:cNvSpPr txBox="1"/>
          <p:nvPr/>
        </p:nvSpPr>
        <p:spPr>
          <a:xfrm>
            <a:off x="7253231" y="4022256"/>
            <a:ext cx="629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1EF38EB-727E-20B9-3330-7655771BF2B3}"/>
              </a:ext>
            </a:extLst>
          </p:cNvPr>
          <p:cNvSpPr txBox="1"/>
          <p:nvPr/>
        </p:nvSpPr>
        <p:spPr>
          <a:xfrm>
            <a:off x="6938536" y="2535017"/>
            <a:ext cx="629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00B050"/>
                </a:solidFill>
              </a:rPr>
              <a:t>YES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9E923B1-61E3-BA6D-75D3-E2C3F33FCD56}"/>
              </a:ext>
            </a:extLst>
          </p:cNvPr>
          <p:cNvSpPr txBox="1"/>
          <p:nvPr/>
        </p:nvSpPr>
        <p:spPr>
          <a:xfrm>
            <a:off x="5779781" y="5738149"/>
            <a:ext cx="629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00B050"/>
                </a:solidFill>
              </a:rPr>
              <a:t>YES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6983E4-744B-6FA4-3889-67FD0360CBDE}"/>
              </a:ext>
            </a:extLst>
          </p:cNvPr>
          <p:cNvCxnSpPr>
            <a:cxnSpLocks/>
          </p:cNvCxnSpPr>
          <p:nvPr/>
        </p:nvCxnSpPr>
        <p:spPr>
          <a:xfrm flipH="1">
            <a:off x="3656260" y="3293039"/>
            <a:ext cx="1" cy="4531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C8CA175-7ABE-B185-449A-D4B0F48D4A67}"/>
              </a:ext>
            </a:extLst>
          </p:cNvPr>
          <p:cNvCxnSpPr>
            <a:cxnSpLocks/>
            <a:endCxn id="90" idx="1"/>
          </p:cNvCxnSpPr>
          <p:nvPr/>
        </p:nvCxnSpPr>
        <p:spPr>
          <a:xfrm>
            <a:off x="3656260" y="3746206"/>
            <a:ext cx="11979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4416837-7B52-9E3C-69E1-0C539BB3CB6D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7941709" y="3278440"/>
            <a:ext cx="0" cy="46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A0F293-088D-7A30-9163-49AC3AB19AC1}"/>
              </a:ext>
            </a:extLst>
          </p:cNvPr>
          <p:cNvCxnSpPr>
            <a:stCxn id="90" idx="3"/>
          </p:cNvCxnSpPr>
          <p:nvPr/>
        </p:nvCxnSpPr>
        <p:spPr>
          <a:xfrm flipV="1">
            <a:off x="6808750" y="3746205"/>
            <a:ext cx="113295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91AEBA1-15FB-C83C-8256-F83B5EBB7CF5}"/>
              </a:ext>
            </a:extLst>
          </p:cNvPr>
          <p:cNvCxnSpPr>
            <a:stCxn id="89" idx="3"/>
          </p:cNvCxnSpPr>
          <p:nvPr/>
        </p:nvCxnSpPr>
        <p:spPr>
          <a:xfrm flipV="1">
            <a:off x="6828851" y="4432664"/>
            <a:ext cx="42438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21CDB8F-DFBD-11EE-EEFA-F7A00B0CFF40}"/>
              </a:ext>
            </a:extLst>
          </p:cNvPr>
          <p:cNvCxnSpPr/>
          <p:nvPr/>
        </p:nvCxnSpPr>
        <p:spPr>
          <a:xfrm flipV="1">
            <a:off x="7253231" y="3893820"/>
            <a:ext cx="0" cy="5388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F79106B-B24F-F01C-680C-09B346524F6A}"/>
              </a:ext>
            </a:extLst>
          </p:cNvPr>
          <p:cNvCxnSpPr/>
          <p:nvPr/>
        </p:nvCxnSpPr>
        <p:spPr>
          <a:xfrm flipH="1">
            <a:off x="6828851" y="3893820"/>
            <a:ext cx="4243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</a:t>
            </a:r>
            <a:r>
              <a:rPr lang="en-US" sz="22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 Health &amp; Safety Monitoring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5288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127455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  <a:tailEnd type="none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6035040" y="2308860"/>
            <a:ext cx="0" cy="274320"/>
          </a:xfrm>
          <a:prstGeom prst="line">
            <a:avLst/>
          </a:prstGeom>
          <a:noFill/>
          <a:ln w="22225">
            <a:solidFill>
              <a:srgbClr val="6B6B6B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 txBox="1"/>
          <p:nvPr/>
        </p:nvSpPr>
        <p:spPr>
          <a:xfrm>
            <a:off x="2524298" y="3185766"/>
            <a:ext cx="9144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127428" y="4125138"/>
            <a:ext cx="9144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35040" y="4823460"/>
            <a:ext cx="0" cy="274320"/>
          </a:xfrm>
          <a:prstGeom prst="line">
            <a:avLst/>
          </a:prstGeom>
          <a:noFill/>
          <a:ln w="22225">
            <a:solidFill>
              <a:srgbClr val="6B6B6B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6035040" y="6050279"/>
            <a:ext cx="0" cy="274320"/>
          </a:xfrm>
          <a:prstGeom prst="line">
            <a:avLst/>
          </a:prstGeom>
          <a:noFill/>
          <a:ln w="22225">
            <a:solidFill>
              <a:srgbClr val="6B6B6B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EE127D-8EAE-7C76-1F13-D555E2E400A9}"/>
              </a:ext>
            </a:extLst>
          </p:cNvPr>
          <p:cNvSpPr/>
          <p:nvPr/>
        </p:nvSpPr>
        <p:spPr>
          <a:xfrm>
            <a:off x="4291444" y="791079"/>
            <a:ext cx="2042156" cy="6547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286511E-4109-64FD-5E21-072E3F48E268}"/>
              </a:ext>
            </a:extLst>
          </p:cNvPr>
          <p:cNvSpPr/>
          <p:nvPr/>
        </p:nvSpPr>
        <p:spPr>
          <a:xfrm>
            <a:off x="3438698" y="1789142"/>
            <a:ext cx="3868187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Load/Capture worker safety data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(PPE compliance, fatigue level, training status, near-misses)</a:t>
            </a:r>
            <a:endParaRPr lang="en-ZA" sz="1500" dirty="0">
              <a:solidFill>
                <a:schemeClr val="tx1"/>
              </a:solidFill>
            </a:endParaRPr>
          </a:p>
        </p:txBody>
      </p:sp>
      <p:sp>
        <p:nvSpPr>
          <p:cNvPr id="31" name="Diamond 30">
            <a:extLst>
              <a:ext uri="{FF2B5EF4-FFF2-40B4-BE49-F238E27FC236}">
                <a16:creationId xmlns:a16="http://schemas.microsoft.com/office/drawing/2014/main" id="{6DB0DDE8-295C-596D-F27D-252CE386B5F1}"/>
              </a:ext>
            </a:extLst>
          </p:cNvPr>
          <p:cNvSpPr/>
          <p:nvPr/>
        </p:nvSpPr>
        <p:spPr>
          <a:xfrm>
            <a:off x="3613902" y="3094325"/>
            <a:ext cx="3429109" cy="9144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condition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detected?</a:t>
            </a:r>
            <a:endParaRPr lang="en-ZA" sz="1500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F788C42-3348-00FD-6530-1EBA91C0FD4B}"/>
              </a:ext>
            </a:extLst>
          </p:cNvPr>
          <p:cNvSpPr/>
          <p:nvPr/>
        </p:nvSpPr>
        <p:spPr>
          <a:xfrm>
            <a:off x="324404" y="3168624"/>
            <a:ext cx="2176660" cy="7315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safety warning &amp; assign risk level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endParaRPr lang="en-ZA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66D6245-070A-59BF-CC40-7173F0D66BAD}"/>
              </a:ext>
            </a:extLst>
          </p:cNvPr>
          <p:cNvSpPr/>
          <p:nvPr/>
        </p:nvSpPr>
        <p:spPr>
          <a:xfrm>
            <a:off x="4317073" y="4573497"/>
            <a:ext cx="2078181" cy="8229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sz="15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worker safety record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endParaRPr lang="en-ZA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6D088D-B92B-0EED-7E9A-8447D4BCF123}"/>
              </a:ext>
            </a:extLst>
          </p:cNvPr>
          <p:cNvSpPr/>
          <p:nvPr/>
        </p:nvSpPr>
        <p:spPr>
          <a:xfrm>
            <a:off x="4399509" y="5825003"/>
            <a:ext cx="2290159" cy="8229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record in worker safety database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endParaRPr lang="en-ZA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FB93233-CAC4-3FB7-F21C-B149736C09C5}"/>
              </a:ext>
            </a:extLst>
          </p:cNvPr>
          <p:cNvCxnSpPr>
            <a:cxnSpLocks/>
            <a:stCxn id="29" idx="4"/>
          </p:cNvCxnSpPr>
          <p:nvPr/>
        </p:nvCxnSpPr>
        <p:spPr>
          <a:xfrm>
            <a:off x="5312522" y="1445824"/>
            <a:ext cx="2082" cy="3425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A030693-D15D-0786-3214-A2978AE3B7F0}"/>
              </a:ext>
            </a:extLst>
          </p:cNvPr>
          <p:cNvCxnSpPr>
            <a:cxnSpLocks/>
          </p:cNvCxnSpPr>
          <p:nvPr/>
        </p:nvCxnSpPr>
        <p:spPr>
          <a:xfrm>
            <a:off x="5328457" y="2688558"/>
            <a:ext cx="0" cy="328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09D6AEA-4F6E-7829-8018-7BF42EB9A3A9}"/>
              </a:ext>
            </a:extLst>
          </p:cNvPr>
          <p:cNvCxnSpPr>
            <a:cxnSpLocks/>
            <a:endCxn id="32" idx="3"/>
          </p:cNvCxnSpPr>
          <p:nvPr/>
        </p:nvCxnSpPr>
        <p:spPr>
          <a:xfrm flipH="1" flipV="1">
            <a:off x="2501064" y="3534383"/>
            <a:ext cx="1101754" cy="17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BF435B7-7DCD-28AD-D14B-E59A6091E12B}"/>
              </a:ext>
            </a:extLst>
          </p:cNvPr>
          <p:cNvCxnSpPr>
            <a:cxnSpLocks/>
          </p:cNvCxnSpPr>
          <p:nvPr/>
        </p:nvCxnSpPr>
        <p:spPr>
          <a:xfrm>
            <a:off x="1412734" y="3862327"/>
            <a:ext cx="0" cy="567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369A575-912F-5505-44CE-DAEEAAC3BAA0}"/>
              </a:ext>
            </a:extLst>
          </p:cNvPr>
          <p:cNvCxnSpPr>
            <a:cxnSpLocks/>
          </p:cNvCxnSpPr>
          <p:nvPr/>
        </p:nvCxnSpPr>
        <p:spPr>
          <a:xfrm>
            <a:off x="5356164" y="4008725"/>
            <a:ext cx="0" cy="532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37BA9A7-1703-1558-AB5C-FC15FA567652}"/>
              </a:ext>
            </a:extLst>
          </p:cNvPr>
          <p:cNvCxnSpPr>
            <a:cxnSpLocks/>
          </p:cNvCxnSpPr>
          <p:nvPr/>
        </p:nvCxnSpPr>
        <p:spPr>
          <a:xfrm>
            <a:off x="1412734" y="4292439"/>
            <a:ext cx="39157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8C88AA2-5ADD-5DF4-3B87-479A4CA30D8A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5356164" y="5396454"/>
            <a:ext cx="0" cy="4285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Oval 70">
            <a:extLst>
              <a:ext uri="{FF2B5EF4-FFF2-40B4-BE49-F238E27FC236}">
                <a16:creationId xmlns:a16="http://schemas.microsoft.com/office/drawing/2014/main" id="{2A7E9E87-5CA1-4729-3C04-715053802DBC}"/>
              </a:ext>
            </a:extLst>
          </p:cNvPr>
          <p:cNvSpPr/>
          <p:nvPr/>
        </p:nvSpPr>
        <p:spPr>
          <a:xfrm>
            <a:off x="8108105" y="5867399"/>
            <a:ext cx="1999208" cy="9144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endParaRPr lang="en-ZA" dirty="0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EA36563-F02F-2669-98A4-77421D15AD08}"/>
              </a:ext>
            </a:extLst>
          </p:cNvPr>
          <p:cNvCxnSpPr>
            <a:cxnSpLocks/>
          </p:cNvCxnSpPr>
          <p:nvPr/>
        </p:nvCxnSpPr>
        <p:spPr>
          <a:xfrm>
            <a:off x="6746684" y="6324874"/>
            <a:ext cx="13044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(c)  </a:t>
            </a:r>
            <a:r>
              <a:rPr lang="en-US" sz="22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Incident Database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5288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127455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  <a:tailEnd type="none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 txBox="1"/>
          <p:nvPr/>
        </p:nvSpPr>
        <p:spPr>
          <a:xfrm>
            <a:off x="3730337" y="2128697"/>
            <a:ext cx="9144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incident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412480" y="2027887"/>
            <a:ext cx="9144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/ Filter</a:t>
            </a:r>
            <a:endParaRPr lang="en-US" sz="130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D524D94-D089-402C-070E-4535EE8FB026}"/>
              </a:ext>
            </a:extLst>
          </p:cNvPr>
          <p:cNvSpPr/>
          <p:nvPr/>
        </p:nvSpPr>
        <p:spPr>
          <a:xfrm>
            <a:off x="6126481" y="515514"/>
            <a:ext cx="914400" cy="7246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Start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3195AD1-EED0-33FC-465D-115877F8D699}"/>
              </a:ext>
            </a:extLst>
          </p:cNvPr>
          <p:cNvCxnSpPr>
            <a:cxnSpLocks/>
          </p:cNvCxnSpPr>
          <p:nvPr/>
        </p:nvCxnSpPr>
        <p:spPr>
          <a:xfrm>
            <a:off x="6608621" y="1240174"/>
            <a:ext cx="0" cy="43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Diamond 37">
            <a:extLst>
              <a:ext uri="{FF2B5EF4-FFF2-40B4-BE49-F238E27FC236}">
                <a16:creationId xmlns:a16="http://schemas.microsoft.com/office/drawing/2014/main" id="{4E17B4F7-7EE2-5DA8-9643-A76A87BD32B5}"/>
              </a:ext>
            </a:extLst>
          </p:cNvPr>
          <p:cNvSpPr/>
          <p:nvPr/>
        </p:nvSpPr>
        <p:spPr>
          <a:xfrm>
            <a:off x="5128953" y="1665557"/>
            <a:ext cx="3039688" cy="72466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Selection action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FE2F9F3-AFB1-7BC0-EA7A-65702B91363B}"/>
              </a:ext>
            </a:extLst>
          </p:cNvPr>
          <p:cNvCxnSpPr>
            <a:cxnSpLocks/>
          </p:cNvCxnSpPr>
          <p:nvPr/>
        </p:nvCxnSpPr>
        <p:spPr>
          <a:xfrm flipH="1">
            <a:off x="4160521" y="2123069"/>
            <a:ext cx="1343889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49366D62-0F9F-8AED-C097-3D50B4269986}"/>
              </a:ext>
            </a:extLst>
          </p:cNvPr>
          <p:cNvSpPr/>
          <p:nvPr/>
        </p:nvSpPr>
        <p:spPr>
          <a:xfrm>
            <a:off x="2388522" y="2602161"/>
            <a:ext cx="2938550" cy="645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incident details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(ID, date, location, type, severity)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endParaRPr lang="en-ZA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C6FB47E-6DFC-FDF1-58D3-AA477A81CCE5}"/>
              </a:ext>
            </a:extLst>
          </p:cNvPr>
          <p:cNvCxnSpPr>
            <a:cxnSpLocks/>
          </p:cNvCxnSpPr>
          <p:nvPr/>
        </p:nvCxnSpPr>
        <p:spPr>
          <a:xfrm>
            <a:off x="7694817" y="2097049"/>
            <a:ext cx="1338347" cy="66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6DCC9FF9-6825-5C75-B303-B6EF7E2378D2}"/>
              </a:ext>
            </a:extLst>
          </p:cNvPr>
          <p:cNvSpPr/>
          <p:nvPr/>
        </p:nvSpPr>
        <p:spPr>
          <a:xfrm>
            <a:off x="8334204" y="2760813"/>
            <a:ext cx="3079861" cy="6913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Search incident database using selected filters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A8D23FD-3D77-69F6-FB7B-43ED55D2E7F1}"/>
              </a:ext>
            </a:extLst>
          </p:cNvPr>
          <p:cNvCxnSpPr>
            <a:cxnSpLocks/>
            <a:stCxn id="46" idx="2"/>
          </p:cNvCxnSpPr>
          <p:nvPr/>
        </p:nvCxnSpPr>
        <p:spPr>
          <a:xfrm>
            <a:off x="3857797" y="3247673"/>
            <a:ext cx="0" cy="396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Diamond 53">
            <a:extLst>
              <a:ext uri="{FF2B5EF4-FFF2-40B4-BE49-F238E27FC236}">
                <a16:creationId xmlns:a16="http://schemas.microsoft.com/office/drawing/2014/main" id="{8FCB65A4-79FF-9F2A-7319-E48FB3C9EE22}"/>
              </a:ext>
            </a:extLst>
          </p:cNvPr>
          <p:cNvSpPr/>
          <p:nvPr/>
        </p:nvSpPr>
        <p:spPr>
          <a:xfrm>
            <a:off x="2452775" y="3673081"/>
            <a:ext cx="2743199" cy="703226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Incident details valid?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1DDECEC-D8A2-D8DD-4A22-31BAE3339CC9}"/>
              </a:ext>
            </a:extLst>
          </p:cNvPr>
          <p:cNvCxnSpPr>
            <a:cxnSpLocks/>
            <a:endCxn id="59" idx="3"/>
          </p:cNvCxnSpPr>
          <p:nvPr/>
        </p:nvCxnSpPr>
        <p:spPr>
          <a:xfrm flipH="1" flipV="1">
            <a:off x="1803165" y="4006439"/>
            <a:ext cx="657404" cy="8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A4487F73-2828-C259-5BA2-9535454C0794}"/>
              </a:ext>
            </a:extLst>
          </p:cNvPr>
          <p:cNvSpPr/>
          <p:nvPr/>
        </p:nvSpPr>
        <p:spPr>
          <a:xfrm>
            <a:off x="139230" y="3654826"/>
            <a:ext cx="1663935" cy="70322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Show error message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66D955C-7C8A-F3FD-A5DC-688957166F24}"/>
              </a:ext>
            </a:extLst>
          </p:cNvPr>
          <p:cNvSpPr txBox="1"/>
          <p:nvPr/>
        </p:nvSpPr>
        <p:spPr>
          <a:xfrm>
            <a:off x="2008909" y="3782291"/>
            <a:ext cx="70381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300" dirty="0">
                <a:solidFill>
                  <a:srgbClr val="FF0000"/>
                </a:solidFill>
              </a:rPr>
              <a:t>No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97D8EDF-BF08-65D0-9667-FDD1581451BE}"/>
              </a:ext>
            </a:extLst>
          </p:cNvPr>
          <p:cNvCxnSpPr>
            <a:cxnSpLocks/>
          </p:cNvCxnSpPr>
          <p:nvPr/>
        </p:nvCxnSpPr>
        <p:spPr>
          <a:xfrm flipV="1">
            <a:off x="1084981" y="2881914"/>
            <a:ext cx="1275833" cy="731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093ADE4-A898-2704-434B-8D9C8BF35790}"/>
              </a:ext>
            </a:extLst>
          </p:cNvPr>
          <p:cNvCxnSpPr>
            <a:cxnSpLocks/>
            <a:stCxn id="54" idx="2"/>
          </p:cNvCxnSpPr>
          <p:nvPr/>
        </p:nvCxnSpPr>
        <p:spPr>
          <a:xfrm flipH="1">
            <a:off x="3824374" y="4376307"/>
            <a:ext cx="1" cy="305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A665F446-CB63-F809-88AE-4C608E2E0F1F}"/>
              </a:ext>
            </a:extLst>
          </p:cNvPr>
          <p:cNvSpPr/>
          <p:nvPr/>
        </p:nvSpPr>
        <p:spPr>
          <a:xfrm>
            <a:off x="2151625" y="4689620"/>
            <a:ext cx="2743198" cy="5964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save to database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endParaRPr lang="en-ZA" dirty="0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71FCFF6-20D9-15B7-6E59-FAC60118998E}"/>
              </a:ext>
            </a:extLst>
          </p:cNvPr>
          <p:cNvCxnSpPr>
            <a:cxnSpLocks/>
          </p:cNvCxnSpPr>
          <p:nvPr/>
        </p:nvCxnSpPr>
        <p:spPr>
          <a:xfrm>
            <a:off x="9695932" y="3434439"/>
            <a:ext cx="0" cy="924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381E6FFB-FA78-C1F0-4018-477CA95D0279}"/>
              </a:ext>
            </a:extLst>
          </p:cNvPr>
          <p:cNvSpPr/>
          <p:nvPr/>
        </p:nvSpPr>
        <p:spPr>
          <a:xfrm>
            <a:off x="8465129" y="4388481"/>
            <a:ext cx="2809004" cy="6969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600" dirty="0">
                <a:solidFill>
                  <a:schemeClr val="tx1"/>
                </a:solidFill>
              </a:rPr>
              <a:t>Display filtered incident data</a:t>
            </a:r>
            <a:endParaRPr lang="en-ZA" sz="1500" dirty="0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D3FA107-D47C-A3FF-C03B-7B4736CADA43}"/>
              </a:ext>
            </a:extLst>
          </p:cNvPr>
          <p:cNvSpPr txBox="1"/>
          <p:nvPr/>
        </p:nvSpPr>
        <p:spPr>
          <a:xfrm>
            <a:off x="3876670" y="4358971"/>
            <a:ext cx="10610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500" dirty="0">
                <a:solidFill>
                  <a:srgbClr val="00B050"/>
                </a:solidFill>
              </a:rPr>
              <a:t>Yes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10BCCA9-79E4-ABD9-02D0-325D8C5899D9}"/>
              </a:ext>
            </a:extLst>
          </p:cNvPr>
          <p:cNvCxnSpPr>
            <a:cxnSpLocks/>
          </p:cNvCxnSpPr>
          <p:nvPr/>
        </p:nvCxnSpPr>
        <p:spPr>
          <a:xfrm>
            <a:off x="9679828" y="4682136"/>
            <a:ext cx="16104" cy="935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C6CB7081-D975-5B0D-7C1A-5EB8BEA6CC98}"/>
              </a:ext>
            </a:extLst>
          </p:cNvPr>
          <p:cNvCxnSpPr>
            <a:cxnSpLocks/>
          </p:cNvCxnSpPr>
          <p:nvPr/>
        </p:nvCxnSpPr>
        <p:spPr>
          <a:xfrm flipH="1" flipV="1">
            <a:off x="6226233" y="5600982"/>
            <a:ext cx="3469699" cy="16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C943764F-D7D8-94F9-C1C8-316563ADA006}"/>
              </a:ext>
            </a:extLst>
          </p:cNvPr>
          <p:cNvCxnSpPr>
            <a:cxnSpLocks/>
          </p:cNvCxnSpPr>
          <p:nvPr/>
        </p:nvCxnSpPr>
        <p:spPr>
          <a:xfrm>
            <a:off x="3523224" y="5197048"/>
            <a:ext cx="0" cy="3912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D13F64FA-E9C3-A484-D575-6B56B6CB7396}"/>
              </a:ext>
            </a:extLst>
          </p:cNvPr>
          <p:cNvCxnSpPr>
            <a:cxnSpLocks/>
          </p:cNvCxnSpPr>
          <p:nvPr/>
        </p:nvCxnSpPr>
        <p:spPr>
          <a:xfrm>
            <a:off x="3523224" y="5580034"/>
            <a:ext cx="2703009" cy="20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0E97D7A4-9CBA-2CAD-960C-2EA7F47C7CCA}"/>
              </a:ext>
            </a:extLst>
          </p:cNvPr>
          <p:cNvCxnSpPr>
            <a:cxnSpLocks/>
          </p:cNvCxnSpPr>
          <p:nvPr/>
        </p:nvCxnSpPr>
        <p:spPr>
          <a:xfrm>
            <a:off x="6245630" y="5553635"/>
            <a:ext cx="0" cy="399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39CB1387-E063-0AC9-15A3-76C5D7F62620}"/>
              </a:ext>
            </a:extLst>
          </p:cNvPr>
          <p:cNvSpPr/>
          <p:nvPr/>
        </p:nvSpPr>
        <p:spPr>
          <a:xfrm>
            <a:off x="5327072" y="5952708"/>
            <a:ext cx="2202873" cy="5894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Summarise and analyse incident data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F02B9414-E5DC-AE05-D8ED-5570EFA2A47F}"/>
              </a:ext>
            </a:extLst>
          </p:cNvPr>
          <p:cNvCxnSpPr>
            <a:cxnSpLocks/>
          </p:cNvCxnSpPr>
          <p:nvPr/>
        </p:nvCxnSpPr>
        <p:spPr>
          <a:xfrm>
            <a:off x="7573188" y="6247438"/>
            <a:ext cx="10895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Oval 118">
            <a:extLst>
              <a:ext uri="{FF2B5EF4-FFF2-40B4-BE49-F238E27FC236}">
                <a16:creationId xmlns:a16="http://schemas.microsoft.com/office/drawing/2014/main" id="{36749597-682E-7A03-710A-E3D0D2419397}"/>
              </a:ext>
            </a:extLst>
          </p:cNvPr>
          <p:cNvSpPr/>
          <p:nvPr/>
        </p:nvSpPr>
        <p:spPr>
          <a:xfrm>
            <a:off x="9033859" y="5753171"/>
            <a:ext cx="914400" cy="89293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(d)  </a:t>
            </a:r>
            <a:r>
              <a:rPr lang="en-US" sz="22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Equipment Database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5288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127455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  <a:tailEnd type="none"/>
          </a:ln>
        </p:spPr>
        <p:txBody>
          <a:bodyPr/>
          <a:lstStyle/>
          <a:p>
            <a:endParaRPr lang="en-ZA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1959051-5041-0255-F87B-E4242DB4AEFD}"/>
              </a:ext>
            </a:extLst>
          </p:cNvPr>
          <p:cNvSpPr/>
          <p:nvPr/>
        </p:nvSpPr>
        <p:spPr>
          <a:xfrm>
            <a:off x="5483249" y="822960"/>
            <a:ext cx="1103581" cy="6022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Start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F535489-6613-121F-9A5A-2DE818FF6D4B}"/>
              </a:ext>
            </a:extLst>
          </p:cNvPr>
          <p:cNvCxnSpPr>
            <a:cxnSpLocks/>
            <a:stCxn id="22" idx="4"/>
          </p:cNvCxnSpPr>
          <p:nvPr/>
        </p:nvCxnSpPr>
        <p:spPr>
          <a:xfrm flipH="1">
            <a:off x="6035039" y="1425202"/>
            <a:ext cx="1" cy="274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74B0CF86-01ED-ECAE-16E7-C795D55B48DD}"/>
              </a:ext>
            </a:extLst>
          </p:cNvPr>
          <p:cNvSpPr/>
          <p:nvPr/>
        </p:nvSpPr>
        <p:spPr>
          <a:xfrm>
            <a:off x="4710546" y="1722382"/>
            <a:ext cx="2964872" cy="449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Enter Equipment ID 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0C70814-2084-9C85-E34D-F38CBD8279CC}"/>
              </a:ext>
            </a:extLst>
          </p:cNvPr>
          <p:cNvCxnSpPr>
            <a:cxnSpLocks/>
          </p:cNvCxnSpPr>
          <p:nvPr/>
        </p:nvCxnSpPr>
        <p:spPr>
          <a:xfrm flipH="1">
            <a:off x="6035039" y="2153415"/>
            <a:ext cx="1" cy="3542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414A21CD-D1CA-F533-E127-5C354507EC7A}"/>
              </a:ext>
            </a:extLst>
          </p:cNvPr>
          <p:cNvSpPr/>
          <p:nvPr/>
        </p:nvSpPr>
        <p:spPr>
          <a:xfrm>
            <a:off x="4120344" y="2536563"/>
            <a:ext cx="4516579" cy="9508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equipment details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(type, manufacturer, operating hours, temperature, vibration, fuel, brake / </a:t>
            </a:r>
            <a:r>
              <a:rPr lang="en-US" sz="15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engine status)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endParaRPr lang="en-ZA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805BC95-F0D9-5213-0CBC-EC5791247F80}"/>
              </a:ext>
            </a:extLst>
          </p:cNvPr>
          <p:cNvCxnSpPr>
            <a:cxnSpLocks/>
          </p:cNvCxnSpPr>
          <p:nvPr/>
        </p:nvCxnSpPr>
        <p:spPr>
          <a:xfrm>
            <a:off x="6094476" y="3487399"/>
            <a:ext cx="0" cy="3978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02428BF0-DFF9-B4F4-F257-44E40C53CEAC}"/>
              </a:ext>
            </a:extLst>
          </p:cNvPr>
          <p:cNvSpPr/>
          <p:nvPr/>
        </p:nvSpPr>
        <p:spPr>
          <a:xfrm>
            <a:off x="4379423" y="3924090"/>
            <a:ext cx="3627117" cy="6192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Save equipment record to database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264AC6A-746B-E892-E91C-633149ACFA6A}"/>
              </a:ext>
            </a:extLst>
          </p:cNvPr>
          <p:cNvCxnSpPr>
            <a:cxnSpLocks/>
          </p:cNvCxnSpPr>
          <p:nvPr/>
        </p:nvCxnSpPr>
        <p:spPr>
          <a:xfrm>
            <a:off x="6094476" y="4543321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6A54CF63-643C-7608-893D-5B1BB0417DE7}"/>
              </a:ext>
            </a:extLst>
          </p:cNvPr>
          <p:cNvSpPr/>
          <p:nvPr/>
        </p:nvSpPr>
        <p:spPr>
          <a:xfrm>
            <a:off x="4787783" y="5026723"/>
            <a:ext cx="2810395" cy="7413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Display equipment summary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BAD14CA-86C0-0E1D-9D33-147B365BEBA6}"/>
              </a:ext>
            </a:extLst>
          </p:cNvPr>
          <p:cNvCxnSpPr>
            <a:cxnSpLocks/>
          </p:cNvCxnSpPr>
          <p:nvPr/>
        </p:nvCxnSpPr>
        <p:spPr>
          <a:xfrm>
            <a:off x="6122184" y="5689153"/>
            <a:ext cx="0" cy="450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C3F3A805-5FA1-5499-66F3-4008FC4CE452}"/>
              </a:ext>
            </a:extLst>
          </p:cNvPr>
          <p:cNvSpPr/>
          <p:nvPr/>
        </p:nvSpPr>
        <p:spPr>
          <a:xfrm>
            <a:off x="5418184" y="6194090"/>
            <a:ext cx="1352584" cy="4627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(e)  </a:t>
            </a:r>
            <a:r>
              <a:rPr lang="en-US" sz="22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Equipment Condition Monitoring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5288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127455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  <a:tailEnd type="none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 txBox="1"/>
          <p:nvPr/>
        </p:nvSpPr>
        <p:spPr>
          <a:xfrm>
            <a:off x="3529584" y="3081470"/>
            <a:ext cx="9144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</a:t>
            </a: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281708" y="4096448"/>
            <a:ext cx="9144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200" dirty="0">
              <a:solidFill>
                <a:srgbClr val="FFC000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7714571" y="3390634"/>
            <a:ext cx="9144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787384" y="3810414"/>
            <a:ext cx="2596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&gt;100°C, Vib &gt;8 mm/s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alert — flag for inspection</a:t>
            </a:r>
            <a:endParaRPr lang="en-US" sz="100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33E3EC3-4D7D-F858-D53F-F18B8F5E39B1}"/>
              </a:ext>
            </a:extLst>
          </p:cNvPr>
          <p:cNvSpPr/>
          <p:nvPr/>
        </p:nvSpPr>
        <p:spPr>
          <a:xfrm>
            <a:off x="5430982" y="695566"/>
            <a:ext cx="1609898" cy="653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chemeClr val="tx1"/>
                </a:solidFill>
              </a:rPr>
              <a:t>Start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53C9929-8FE1-587A-D84C-5AFE814579B6}"/>
              </a:ext>
            </a:extLst>
          </p:cNvPr>
          <p:cNvCxnSpPr>
            <a:cxnSpLocks/>
          </p:cNvCxnSpPr>
          <p:nvPr/>
        </p:nvCxnSpPr>
        <p:spPr>
          <a:xfrm>
            <a:off x="6235931" y="1348740"/>
            <a:ext cx="0" cy="341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689A51AF-D009-4A67-79ED-653B120CC88C}"/>
              </a:ext>
            </a:extLst>
          </p:cNvPr>
          <p:cNvSpPr/>
          <p:nvPr/>
        </p:nvSpPr>
        <p:spPr>
          <a:xfrm>
            <a:off x="5154225" y="1702380"/>
            <a:ext cx="2749849" cy="5805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Read equipment parameters (temperature and vibration)</a:t>
            </a:r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0EC2C0CF-4CAB-CFAC-EF9A-3C4CEFA603C0}"/>
              </a:ext>
            </a:extLst>
          </p:cNvPr>
          <p:cNvSpPr/>
          <p:nvPr/>
        </p:nvSpPr>
        <p:spPr>
          <a:xfrm>
            <a:off x="5007257" y="2708646"/>
            <a:ext cx="2548902" cy="1267615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value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thresholds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endParaRPr lang="en-ZA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B37B29C-763E-524E-793B-9F546A9001BF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6281708" y="2282891"/>
            <a:ext cx="0" cy="425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AAEC0189-2AC5-6B1A-1F1B-7BB9FD704009}"/>
              </a:ext>
            </a:extLst>
          </p:cNvPr>
          <p:cNvSpPr/>
          <p:nvPr/>
        </p:nvSpPr>
        <p:spPr>
          <a:xfrm>
            <a:off x="928255" y="3536246"/>
            <a:ext cx="2596896" cy="97217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&lt;80°C, Vib &lt;5 mm/s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operating normally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endParaRPr lang="en-ZA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0816D6E-3021-C954-B8A1-D6C5804A6AEC}"/>
              </a:ext>
            </a:extLst>
          </p:cNvPr>
          <p:cNvCxnSpPr>
            <a:cxnSpLocks/>
          </p:cNvCxnSpPr>
          <p:nvPr/>
        </p:nvCxnSpPr>
        <p:spPr>
          <a:xfrm flipH="1">
            <a:off x="3535680" y="3331630"/>
            <a:ext cx="1556865" cy="219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6123D7A1-196D-ACA9-7FDF-2D2636C7A935}"/>
              </a:ext>
            </a:extLst>
          </p:cNvPr>
          <p:cNvSpPr/>
          <p:nvPr/>
        </p:nvSpPr>
        <p:spPr>
          <a:xfrm>
            <a:off x="5131988" y="4594331"/>
            <a:ext cx="2299439" cy="91493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80–100°C, Vib 5–8 mm/s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warning message</a:t>
            </a:r>
            <a:endParaRPr lang="en-US" sz="1500" dirty="0">
              <a:solidFill>
                <a:schemeClr val="tx1"/>
              </a:solidFill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9E53D61-0C45-E267-4F25-0BABA1F4C33F}"/>
              </a:ext>
            </a:extLst>
          </p:cNvPr>
          <p:cNvCxnSpPr>
            <a:cxnSpLocks/>
            <a:stCxn id="47" idx="2"/>
            <a:endCxn id="57" idx="0"/>
          </p:cNvCxnSpPr>
          <p:nvPr/>
        </p:nvCxnSpPr>
        <p:spPr>
          <a:xfrm>
            <a:off x="6281708" y="3976261"/>
            <a:ext cx="0" cy="618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278A5792-AB5E-9EFB-F1D0-5F7C0FF59CBD}"/>
              </a:ext>
            </a:extLst>
          </p:cNvPr>
          <p:cNvSpPr/>
          <p:nvPr/>
        </p:nvSpPr>
        <p:spPr>
          <a:xfrm>
            <a:off x="8936186" y="3638983"/>
            <a:ext cx="2859574" cy="91493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&gt;100°C, Vib &gt;8 mm/s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alert — flag for inspection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endParaRPr lang="en-ZA" dirty="0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0B7CCED-7F52-3995-AE14-516EB83D71CE}"/>
              </a:ext>
            </a:extLst>
          </p:cNvPr>
          <p:cNvCxnSpPr>
            <a:cxnSpLocks/>
          </p:cNvCxnSpPr>
          <p:nvPr/>
        </p:nvCxnSpPr>
        <p:spPr>
          <a:xfrm>
            <a:off x="7344910" y="3551534"/>
            <a:ext cx="1591276" cy="544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E5EF525-C032-16E9-05C9-60F0BB32900A}"/>
              </a:ext>
            </a:extLst>
          </p:cNvPr>
          <p:cNvCxnSpPr>
            <a:cxnSpLocks/>
            <a:stCxn id="57" idx="2"/>
          </p:cNvCxnSpPr>
          <p:nvPr/>
        </p:nvCxnSpPr>
        <p:spPr>
          <a:xfrm>
            <a:off x="6281708" y="5509261"/>
            <a:ext cx="0" cy="352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7A9AFC0E-661C-1B00-A887-C8545C4029AE}"/>
              </a:ext>
            </a:extLst>
          </p:cNvPr>
          <p:cNvSpPr/>
          <p:nvPr/>
        </p:nvSpPr>
        <p:spPr>
          <a:xfrm>
            <a:off x="5225880" y="5908686"/>
            <a:ext cx="2020101" cy="6737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Save equipment condition status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80BD54B-9F44-43BB-5DE4-934BD4650028}"/>
              </a:ext>
            </a:extLst>
          </p:cNvPr>
          <p:cNvCxnSpPr>
            <a:cxnSpLocks/>
          </p:cNvCxnSpPr>
          <p:nvPr/>
        </p:nvCxnSpPr>
        <p:spPr>
          <a:xfrm>
            <a:off x="7344910" y="6245566"/>
            <a:ext cx="10786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B100F4BE-879B-21BA-41F3-1B542B69178E}"/>
              </a:ext>
            </a:extLst>
          </p:cNvPr>
          <p:cNvSpPr/>
          <p:nvPr/>
        </p:nvSpPr>
        <p:spPr>
          <a:xfrm>
            <a:off x="8522493" y="5891129"/>
            <a:ext cx="1312580" cy="6913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(f)  </a:t>
            </a:r>
            <a:r>
              <a:rPr lang="en-US" sz="22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Equipment Maintenance Monitoring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5288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127455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  <a:tailEnd type="none"/>
          </a:ln>
        </p:spPr>
        <p:txBody>
          <a:bodyPr/>
          <a:lstStyle/>
          <a:p>
            <a:endParaRPr lang="en-ZA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DB8B588-0CD1-8207-F629-0407E4D816DD}"/>
              </a:ext>
            </a:extLst>
          </p:cNvPr>
          <p:cNvSpPr/>
          <p:nvPr/>
        </p:nvSpPr>
        <p:spPr>
          <a:xfrm>
            <a:off x="5313855" y="780777"/>
            <a:ext cx="914400" cy="4422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Start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3C5CAA6-62B1-E51D-B8ED-6214A73EFB1E}"/>
              </a:ext>
            </a:extLst>
          </p:cNvPr>
          <p:cNvCxnSpPr>
            <a:cxnSpLocks/>
          </p:cNvCxnSpPr>
          <p:nvPr/>
        </p:nvCxnSpPr>
        <p:spPr>
          <a:xfrm>
            <a:off x="5846618" y="1247670"/>
            <a:ext cx="12469" cy="259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95E99DC8-2E5C-92EC-5FFA-E2680A7BC168}"/>
              </a:ext>
            </a:extLst>
          </p:cNvPr>
          <p:cNvSpPr/>
          <p:nvPr/>
        </p:nvSpPr>
        <p:spPr>
          <a:xfrm>
            <a:off x="3685198" y="1571246"/>
            <a:ext cx="5086115" cy="6964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Access equipment data (operating time, downtime, maintenance status, alerts)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9AC8324-0D2B-2CF9-6270-0A7FD16BFC58}"/>
              </a:ext>
            </a:extLst>
          </p:cNvPr>
          <p:cNvSpPr/>
          <p:nvPr/>
        </p:nvSpPr>
        <p:spPr>
          <a:xfrm>
            <a:off x="3097932" y="2642617"/>
            <a:ext cx="6411828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Availability = Operating Time / (Downtime + Operating Time) × 100</a:t>
            </a:r>
            <a:endParaRPr lang="en-US" sz="1500" dirty="0">
              <a:solidFill>
                <a:schemeClr val="tx1"/>
              </a:solidFill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5EE737C-DEBE-5C80-BA06-DCF78163B618}"/>
              </a:ext>
            </a:extLst>
          </p:cNvPr>
          <p:cNvCxnSpPr>
            <a:cxnSpLocks/>
          </p:cNvCxnSpPr>
          <p:nvPr/>
        </p:nvCxnSpPr>
        <p:spPr>
          <a:xfrm>
            <a:off x="6035040" y="2267712"/>
            <a:ext cx="0" cy="350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5215FD8-B2C7-3828-89AE-786ABEF7A5F4}"/>
              </a:ext>
            </a:extLst>
          </p:cNvPr>
          <p:cNvCxnSpPr>
            <a:cxnSpLocks/>
            <a:endCxn id="60" idx="0"/>
          </p:cNvCxnSpPr>
          <p:nvPr/>
        </p:nvCxnSpPr>
        <p:spPr>
          <a:xfrm>
            <a:off x="6035040" y="3115889"/>
            <a:ext cx="0" cy="376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55433AF9-1E49-9B06-C454-CFB5E86C46FE}"/>
              </a:ext>
            </a:extLst>
          </p:cNvPr>
          <p:cNvSpPr/>
          <p:nvPr/>
        </p:nvSpPr>
        <p:spPr>
          <a:xfrm>
            <a:off x="4626726" y="3492453"/>
            <a:ext cx="2816628" cy="6542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Check maintenance conditions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D22E3E1-9EDC-C79B-65FF-B4AA82F9EBD7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6035040" y="4146667"/>
            <a:ext cx="0" cy="291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Diamond 63">
            <a:extLst>
              <a:ext uri="{FF2B5EF4-FFF2-40B4-BE49-F238E27FC236}">
                <a16:creationId xmlns:a16="http://schemas.microsoft.com/office/drawing/2014/main" id="{351C1B9B-E1C9-9041-9FCD-BA02148DF873}"/>
              </a:ext>
            </a:extLst>
          </p:cNvPr>
          <p:cNvSpPr/>
          <p:nvPr/>
        </p:nvSpPr>
        <p:spPr>
          <a:xfrm>
            <a:off x="4520048" y="4447863"/>
            <a:ext cx="3062545" cy="1060704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Maintenance attention required?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6C6E76E-7C8A-55A4-CEF6-893468B52356}"/>
              </a:ext>
            </a:extLst>
          </p:cNvPr>
          <p:cNvCxnSpPr>
            <a:cxnSpLocks/>
          </p:cNvCxnSpPr>
          <p:nvPr/>
        </p:nvCxnSpPr>
        <p:spPr>
          <a:xfrm flipH="1" flipV="1">
            <a:off x="2904781" y="4549353"/>
            <a:ext cx="1861533" cy="394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D82D1963-9357-9931-03B1-B604D9A1C7B2}"/>
              </a:ext>
            </a:extLst>
          </p:cNvPr>
          <p:cNvSpPr/>
          <p:nvPr/>
        </p:nvSpPr>
        <p:spPr>
          <a:xfrm>
            <a:off x="1026108" y="4163654"/>
            <a:ext cx="1878673" cy="7193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Identify maintenance Equipment  condition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BBF536B-2250-EDFE-5AD3-E65426837C4A}"/>
              </a:ext>
            </a:extLst>
          </p:cNvPr>
          <p:cNvSpPr txBox="1"/>
          <p:nvPr/>
        </p:nvSpPr>
        <p:spPr>
          <a:xfrm>
            <a:off x="3763585" y="4438165"/>
            <a:ext cx="62345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300" dirty="0">
                <a:solidFill>
                  <a:srgbClr val="FF0000"/>
                </a:solidFill>
              </a:rPr>
              <a:t>Yes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F83031A-4129-9442-C516-57D01AB44295}"/>
              </a:ext>
            </a:extLst>
          </p:cNvPr>
          <p:cNvCxnSpPr>
            <a:cxnSpLocks/>
            <a:stCxn id="64" idx="3"/>
          </p:cNvCxnSpPr>
          <p:nvPr/>
        </p:nvCxnSpPr>
        <p:spPr>
          <a:xfrm>
            <a:off x="7582593" y="4978215"/>
            <a:ext cx="6470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B97F9C8C-C8F0-F36C-7602-C158F585410F}"/>
              </a:ext>
            </a:extLst>
          </p:cNvPr>
          <p:cNvSpPr txBox="1"/>
          <p:nvPr/>
        </p:nvSpPr>
        <p:spPr>
          <a:xfrm>
            <a:off x="7715600" y="4675925"/>
            <a:ext cx="76754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300" dirty="0">
                <a:solidFill>
                  <a:srgbClr val="00B050"/>
                </a:solidFill>
              </a:rPr>
              <a:t>No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14171B3-C7B2-2454-61C8-B27B36E9BF35}"/>
              </a:ext>
            </a:extLst>
          </p:cNvPr>
          <p:cNvSpPr/>
          <p:nvPr/>
        </p:nvSpPr>
        <p:spPr>
          <a:xfrm>
            <a:off x="8229600" y="4626864"/>
            <a:ext cx="2377438" cy="71933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Equipment does not require  maintenance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B317223-6B4C-D98B-9733-C5F8A7431E28}"/>
              </a:ext>
            </a:extLst>
          </p:cNvPr>
          <p:cNvSpPr/>
          <p:nvPr/>
        </p:nvSpPr>
        <p:spPr>
          <a:xfrm>
            <a:off x="620509" y="5270148"/>
            <a:ext cx="2530537" cy="142395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  <a:p>
            <a:pPr algn="ctr"/>
            <a:r>
              <a:rPr lang="en-ZA" sz="1500" dirty="0">
                <a:solidFill>
                  <a:schemeClr val="tx1"/>
                </a:solidFill>
              </a:rPr>
              <a:t>Due for maintenance</a:t>
            </a:r>
          </a:p>
          <a:p>
            <a:pPr algn="ctr"/>
            <a:r>
              <a:rPr lang="en-ZA" sz="1500" dirty="0">
                <a:solidFill>
                  <a:schemeClr val="tx1"/>
                </a:solidFill>
              </a:rPr>
              <a:t>Overdue</a:t>
            </a:r>
          </a:p>
          <a:p>
            <a:pPr algn="ctr"/>
            <a:r>
              <a:rPr lang="en-ZA" sz="1500" dirty="0">
                <a:solidFill>
                  <a:schemeClr val="tx1"/>
                </a:solidFill>
              </a:rPr>
              <a:t>Under maintenance </a:t>
            </a:r>
          </a:p>
          <a:p>
            <a:pPr algn="ctr"/>
            <a:r>
              <a:rPr lang="en-ZA" sz="1500" dirty="0">
                <a:solidFill>
                  <a:schemeClr val="tx1"/>
                </a:solidFill>
              </a:rPr>
              <a:t>Excessive downtime</a:t>
            </a:r>
          </a:p>
          <a:p>
            <a:pPr algn="ctr"/>
            <a:r>
              <a:rPr lang="en-ZA" sz="1500" dirty="0">
                <a:solidFill>
                  <a:schemeClr val="tx1"/>
                </a:solidFill>
              </a:rPr>
              <a:t>Repeated alerts </a:t>
            </a:r>
          </a:p>
          <a:p>
            <a:pPr algn="ctr"/>
            <a:r>
              <a:rPr lang="en-ZA" sz="1500" dirty="0">
                <a:solidFill>
                  <a:schemeClr val="tx1"/>
                </a:solidFill>
              </a:rPr>
              <a:t>Low availability </a:t>
            </a:r>
          </a:p>
          <a:p>
            <a:pPr algn="ctr"/>
            <a:endParaRPr lang="en-ZA" dirty="0"/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0129606-9569-7E0F-2838-85FD5CA2FB72}"/>
              </a:ext>
            </a:extLst>
          </p:cNvPr>
          <p:cNvCxnSpPr>
            <a:cxnSpLocks/>
          </p:cNvCxnSpPr>
          <p:nvPr/>
        </p:nvCxnSpPr>
        <p:spPr>
          <a:xfrm>
            <a:off x="1906559" y="4875848"/>
            <a:ext cx="0" cy="394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E38F36E3-1AB3-3D63-B203-351F4BA6F83E}"/>
              </a:ext>
            </a:extLst>
          </p:cNvPr>
          <p:cNvCxnSpPr>
            <a:cxnSpLocks/>
          </p:cNvCxnSpPr>
          <p:nvPr/>
        </p:nvCxnSpPr>
        <p:spPr>
          <a:xfrm>
            <a:off x="3151046" y="6169427"/>
            <a:ext cx="15421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36CF7EDE-1104-9D32-5C40-25B23ACFB490}"/>
              </a:ext>
            </a:extLst>
          </p:cNvPr>
          <p:cNvSpPr/>
          <p:nvPr/>
        </p:nvSpPr>
        <p:spPr>
          <a:xfrm>
            <a:off x="4766314" y="5851049"/>
            <a:ext cx="3728249" cy="6367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Add equipment to maintenance priority list 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602A0295-E4A7-D6B8-09BF-9CFD5F964E59}"/>
              </a:ext>
            </a:extLst>
          </p:cNvPr>
          <p:cNvSpPr/>
          <p:nvPr/>
        </p:nvSpPr>
        <p:spPr>
          <a:xfrm>
            <a:off x="9326346" y="5915473"/>
            <a:ext cx="1444860" cy="6428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End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B2B9E8C9-8865-3390-5BEC-57638410206C}"/>
              </a:ext>
            </a:extLst>
          </p:cNvPr>
          <p:cNvCxnSpPr>
            <a:cxnSpLocks/>
          </p:cNvCxnSpPr>
          <p:nvPr/>
        </p:nvCxnSpPr>
        <p:spPr>
          <a:xfrm>
            <a:off x="8494563" y="6236898"/>
            <a:ext cx="831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7D16BB53-EEDE-8B1C-71B2-C60EC131D1F9}"/>
              </a:ext>
            </a:extLst>
          </p:cNvPr>
          <p:cNvCxnSpPr>
            <a:cxnSpLocks/>
          </p:cNvCxnSpPr>
          <p:nvPr/>
        </p:nvCxnSpPr>
        <p:spPr>
          <a:xfrm flipH="1">
            <a:off x="10000336" y="5410618"/>
            <a:ext cx="11107" cy="5048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4340" y="237744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(g)  </a:t>
            </a:r>
            <a:r>
              <a:rPr lang="en-US" sz="22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Assessment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5288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127455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  <a:tailEnd type="none"/>
          </a:ln>
        </p:spPr>
        <p:txBody>
          <a:bodyPr/>
          <a:lstStyle/>
          <a:p>
            <a:endParaRPr lang="en-ZA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FA1B634-3CA5-9ECB-6020-3446806A2AC0}"/>
              </a:ext>
            </a:extLst>
          </p:cNvPr>
          <p:cNvSpPr/>
          <p:nvPr/>
        </p:nvSpPr>
        <p:spPr>
          <a:xfrm>
            <a:off x="5303520" y="641910"/>
            <a:ext cx="914400" cy="5486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Start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D32516F-B63B-166A-2503-DA250E5D00A5}"/>
              </a:ext>
            </a:extLst>
          </p:cNvPr>
          <p:cNvCxnSpPr>
            <a:cxnSpLocks/>
            <a:stCxn id="46" idx="4"/>
          </p:cNvCxnSpPr>
          <p:nvPr/>
        </p:nvCxnSpPr>
        <p:spPr>
          <a:xfrm>
            <a:off x="5760720" y="1190548"/>
            <a:ext cx="0" cy="2816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90C31CD5-B94E-3DB3-49A7-00D594AD727A}"/>
              </a:ext>
            </a:extLst>
          </p:cNvPr>
          <p:cNvSpPr/>
          <p:nvPr/>
        </p:nvSpPr>
        <p:spPr>
          <a:xfrm>
            <a:off x="4535286" y="1472184"/>
            <a:ext cx="2770907" cy="7488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Input Likelihood (1–5) and Consequence (1–5)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37D9D1D-35B0-D0E3-8C24-70DE561C15F0}"/>
              </a:ext>
            </a:extLst>
          </p:cNvPr>
          <p:cNvCxnSpPr>
            <a:cxnSpLocks/>
          </p:cNvCxnSpPr>
          <p:nvPr/>
        </p:nvCxnSpPr>
        <p:spPr>
          <a:xfrm>
            <a:off x="5771804" y="2221077"/>
            <a:ext cx="0" cy="4151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AEE6F47C-A7CD-83CD-6DAE-F12769EB950E}"/>
              </a:ext>
            </a:extLst>
          </p:cNvPr>
          <p:cNvSpPr/>
          <p:nvPr/>
        </p:nvSpPr>
        <p:spPr>
          <a:xfrm>
            <a:off x="4535286" y="2656334"/>
            <a:ext cx="2895601" cy="711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Calculate Risk Score = Likelihood × Consequence</a:t>
            </a:r>
          </a:p>
        </p:txBody>
      </p:sp>
      <p:sp>
        <p:nvSpPr>
          <p:cNvPr id="55" name="Diamond 54">
            <a:extLst>
              <a:ext uri="{FF2B5EF4-FFF2-40B4-BE49-F238E27FC236}">
                <a16:creationId xmlns:a16="http://schemas.microsoft.com/office/drawing/2014/main" id="{B900E588-E8A0-38C7-8F23-B518D13ADC2F}"/>
              </a:ext>
            </a:extLst>
          </p:cNvPr>
          <p:cNvSpPr/>
          <p:nvPr/>
        </p:nvSpPr>
        <p:spPr>
          <a:xfrm>
            <a:off x="4620836" y="3742860"/>
            <a:ext cx="2599805" cy="9144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Classify Risk Score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09FCB61-8F83-3514-DD07-DFD99F068305}"/>
              </a:ext>
            </a:extLst>
          </p:cNvPr>
          <p:cNvCxnSpPr>
            <a:cxnSpLocks/>
          </p:cNvCxnSpPr>
          <p:nvPr/>
        </p:nvCxnSpPr>
        <p:spPr>
          <a:xfrm>
            <a:off x="5916578" y="3367736"/>
            <a:ext cx="0" cy="359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A8C9BE4A-EF21-3FFD-5529-04A747698EA9}"/>
              </a:ext>
            </a:extLst>
          </p:cNvPr>
          <p:cNvSpPr/>
          <p:nvPr/>
        </p:nvSpPr>
        <p:spPr>
          <a:xfrm>
            <a:off x="2036486" y="4852971"/>
            <a:ext cx="1299688" cy="68527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1-4</a:t>
            </a:r>
          </a:p>
          <a:p>
            <a:pPr algn="ctr"/>
            <a:r>
              <a:rPr lang="en-ZA" sz="1500" dirty="0">
                <a:solidFill>
                  <a:schemeClr val="tx1"/>
                </a:solidFill>
              </a:rPr>
              <a:t>Low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E2E0DDC-43C1-DB65-BA50-3554DE85B8F2}"/>
              </a:ext>
            </a:extLst>
          </p:cNvPr>
          <p:cNvCxnSpPr>
            <a:cxnSpLocks/>
          </p:cNvCxnSpPr>
          <p:nvPr/>
        </p:nvCxnSpPr>
        <p:spPr>
          <a:xfrm flipH="1">
            <a:off x="2923309" y="4232034"/>
            <a:ext cx="1757795" cy="601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B7E729B-ED26-81FF-EF70-E23AC8C06106}"/>
              </a:ext>
            </a:extLst>
          </p:cNvPr>
          <p:cNvCxnSpPr>
            <a:cxnSpLocks/>
            <a:stCxn id="55" idx="1"/>
          </p:cNvCxnSpPr>
          <p:nvPr/>
        </p:nvCxnSpPr>
        <p:spPr>
          <a:xfrm>
            <a:off x="4620836" y="4200060"/>
            <a:ext cx="682684" cy="633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CD1C1C07-6796-DB88-96FF-186DC4C6C8E7}"/>
              </a:ext>
            </a:extLst>
          </p:cNvPr>
          <p:cNvSpPr/>
          <p:nvPr/>
        </p:nvSpPr>
        <p:spPr>
          <a:xfrm>
            <a:off x="4396261" y="4858470"/>
            <a:ext cx="1299688" cy="685278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5-9</a:t>
            </a:r>
          </a:p>
          <a:p>
            <a:pPr algn="ctr"/>
            <a:r>
              <a:rPr lang="en-ZA" sz="1500" dirty="0">
                <a:solidFill>
                  <a:schemeClr val="tx1"/>
                </a:solidFill>
              </a:rPr>
              <a:t>Medium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94BB8D2-3D81-7AC7-6E99-3E6A552BA82C}"/>
              </a:ext>
            </a:extLst>
          </p:cNvPr>
          <p:cNvCxnSpPr>
            <a:cxnSpLocks/>
            <a:stCxn id="55" idx="3"/>
          </p:cNvCxnSpPr>
          <p:nvPr/>
        </p:nvCxnSpPr>
        <p:spPr>
          <a:xfrm flipH="1">
            <a:off x="6888482" y="4200060"/>
            <a:ext cx="332159" cy="633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4235FEA3-2378-33FA-9BDE-D78B67D19E33}"/>
              </a:ext>
            </a:extLst>
          </p:cNvPr>
          <p:cNvSpPr/>
          <p:nvPr/>
        </p:nvSpPr>
        <p:spPr>
          <a:xfrm>
            <a:off x="6262257" y="4858470"/>
            <a:ext cx="1299688" cy="6659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10-16</a:t>
            </a:r>
          </a:p>
          <a:p>
            <a:pPr algn="ctr"/>
            <a:r>
              <a:rPr lang="en-ZA" sz="1500" dirty="0">
                <a:solidFill>
                  <a:schemeClr val="tx1"/>
                </a:solidFill>
              </a:rPr>
              <a:t>High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F7D9E6C-DB34-5AF7-7142-0361543F4850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7220641" y="4200060"/>
            <a:ext cx="1299904" cy="5761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DA02CAB1-6C48-B3F2-FA60-121D7172B54D}"/>
              </a:ext>
            </a:extLst>
          </p:cNvPr>
          <p:cNvSpPr/>
          <p:nvPr/>
        </p:nvSpPr>
        <p:spPr>
          <a:xfrm>
            <a:off x="8128253" y="4858470"/>
            <a:ext cx="1299688" cy="66592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17-25</a:t>
            </a:r>
          </a:p>
          <a:p>
            <a:pPr algn="ctr"/>
            <a:r>
              <a:rPr lang="en-ZA" sz="1500" dirty="0">
                <a:solidFill>
                  <a:schemeClr val="tx1"/>
                </a:solidFill>
              </a:rPr>
              <a:t>Critical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014DF36-282C-7473-4BF1-8F242B005EB3}"/>
              </a:ext>
            </a:extLst>
          </p:cNvPr>
          <p:cNvCxnSpPr>
            <a:cxnSpLocks/>
          </p:cNvCxnSpPr>
          <p:nvPr/>
        </p:nvCxnSpPr>
        <p:spPr>
          <a:xfrm>
            <a:off x="2313709" y="5888182"/>
            <a:ext cx="71142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580A078B-E5D4-DA8A-7E52-3208A12D90D9}"/>
              </a:ext>
            </a:extLst>
          </p:cNvPr>
          <p:cNvCxnSpPr>
            <a:cxnSpLocks/>
          </p:cNvCxnSpPr>
          <p:nvPr/>
        </p:nvCxnSpPr>
        <p:spPr>
          <a:xfrm>
            <a:off x="2923309" y="5543748"/>
            <a:ext cx="0" cy="344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8D8334F3-8C5D-EEB1-27D1-168FC859340A}"/>
              </a:ext>
            </a:extLst>
          </p:cNvPr>
          <p:cNvCxnSpPr>
            <a:cxnSpLocks/>
          </p:cNvCxnSpPr>
          <p:nvPr/>
        </p:nvCxnSpPr>
        <p:spPr>
          <a:xfrm>
            <a:off x="5073814" y="5551640"/>
            <a:ext cx="0" cy="344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D4D7883D-4324-6C87-7657-3874002E98F3}"/>
              </a:ext>
            </a:extLst>
          </p:cNvPr>
          <p:cNvCxnSpPr>
            <a:cxnSpLocks/>
          </p:cNvCxnSpPr>
          <p:nvPr/>
        </p:nvCxnSpPr>
        <p:spPr>
          <a:xfrm>
            <a:off x="6912101" y="5559532"/>
            <a:ext cx="0" cy="344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B67BAC4D-4826-9BB4-9667-607D1C045375}"/>
              </a:ext>
            </a:extLst>
          </p:cNvPr>
          <p:cNvCxnSpPr>
            <a:cxnSpLocks/>
          </p:cNvCxnSpPr>
          <p:nvPr/>
        </p:nvCxnSpPr>
        <p:spPr>
          <a:xfrm>
            <a:off x="8778097" y="5559532"/>
            <a:ext cx="0" cy="344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C23DD379-4D18-90E7-EC1D-820175FEE44B}"/>
              </a:ext>
            </a:extLst>
          </p:cNvPr>
          <p:cNvSpPr/>
          <p:nvPr/>
        </p:nvSpPr>
        <p:spPr>
          <a:xfrm>
            <a:off x="3913874" y="6181988"/>
            <a:ext cx="3913902" cy="519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Display risk classification and warning for High/Critical risk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C9D61B97-D35C-8DA7-A782-588DE544CA56}"/>
              </a:ext>
            </a:extLst>
          </p:cNvPr>
          <p:cNvCxnSpPr>
            <a:cxnSpLocks/>
          </p:cNvCxnSpPr>
          <p:nvPr/>
        </p:nvCxnSpPr>
        <p:spPr>
          <a:xfrm>
            <a:off x="5771804" y="5888182"/>
            <a:ext cx="0" cy="256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4706122D-A32C-33D7-29DA-07F77207B5D6}"/>
              </a:ext>
            </a:extLst>
          </p:cNvPr>
          <p:cNvSpPr/>
          <p:nvPr/>
        </p:nvSpPr>
        <p:spPr>
          <a:xfrm>
            <a:off x="9124648" y="6071438"/>
            <a:ext cx="1155426" cy="66592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End</a:t>
            </a: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4ABCA5E0-76A6-BC59-2E43-489D200F93D7}"/>
              </a:ext>
            </a:extLst>
          </p:cNvPr>
          <p:cNvCxnSpPr>
            <a:cxnSpLocks/>
            <a:stCxn id="94" idx="3"/>
            <a:endCxn id="98" idx="2"/>
          </p:cNvCxnSpPr>
          <p:nvPr/>
        </p:nvCxnSpPr>
        <p:spPr>
          <a:xfrm flipV="1">
            <a:off x="7827776" y="6404400"/>
            <a:ext cx="1296872" cy="37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(h)  </a:t>
            </a:r>
            <a:r>
              <a:rPr lang="en-US" sz="22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Alerts &amp; Notifications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5288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127455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  <a:tailEnd type="none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 txBox="1"/>
          <p:nvPr/>
        </p:nvSpPr>
        <p:spPr>
          <a:xfrm>
            <a:off x="3017519" y="1376161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monitor safety &amp; equipment parameters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(temperature, vibration, PPE, fatigue, incidents, downtime)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403763" y="4362154"/>
            <a:ext cx="9144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764876" y="3826605"/>
            <a:ext cx="9144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35CF3B0-F2E6-CBE1-5F4A-C35382B2086B}"/>
              </a:ext>
            </a:extLst>
          </p:cNvPr>
          <p:cNvSpPr/>
          <p:nvPr/>
        </p:nvSpPr>
        <p:spPr>
          <a:xfrm>
            <a:off x="5461462" y="594552"/>
            <a:ext cx="914400" cy="5301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Start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A4229E5-4A3F-CC81-D5D4-E2C96E7B940E}"/>
              </a:ext>
            </a:extLst>
          </p:cNvPr>
          <p:cNvCxnSpPr>
            <a:cxnSpLocks/>
          </p:cNvCxnSpPr>
          <p:nvPr/>
        </p:nvCxnSpPr>
        <p:spPr>
          <a:xfrm flipH="1">
            <a:off x="5918662" y="1140620"/>
            <a:ext cx="2771" cy="349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026111E7-6181-09AE-46AC-19DB83EEF2E7}"/>
              </a:ext>
            </a:extLst>
          </p:cNvPr>
          <p:cNvSpPr/>
          <p:nvPr/>
        </p:nvSpPr>
        <p:spPr>
          <a:xfrm>
            <a:off x="3404062" y="1501648"/>
            <a:ext cx="5034741" cy="7779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Monitor safety and equipment data (temperature, vibration, PPE, fatigue, incidents, downtime, maintenance)</a:t>
            </a:r>
          </a:p>
        </p:txBody>
      </p:sp>
      <p:sp>
        <p:nvSpPr>
          <p:cNvPr id="32" name="Diamond 31">
            <a:extLst>
              <a:ext uri="{FF2B5EF4-FFF2-40B4-BE49-F238E27FC236}">
                <a16:creationId xmlns:a16="http://schemas.microsoft.com/office/drawing/2014/main" id="{CE411D45-9CCA-4DE9-AEE3-DEFB21C87B81}"/>
              </a:ext>
            </a:extLst>
          </p:cNvPr>
          <p:cNvSpPr/>
          <p:nvPr/>
        </p:nvSpPr>
        <p:spPr>
          <a:xfrm>
            <a:off x="4485063" y="2665729"/>
            <a:ext cx="2867197" cy="1110029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Alert condition detected?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5B77D95-0530-8F5C-D24E-408449B55A66}"/>
              </a:ext>
            </a:extLst>
          </p:cNvPr>
          <p:cNvCxnSpPr>
            <a:cxnSpLocks/>
          </p:cNvCxnSpPr>
          <p:nvPr/>
        </p:nvCxnSpPr>
        <p:spPr>
          <a:xfrm>
            <a:off x="5918662" y="2279571"/>
            <a:ext cx="0" cy="3527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C6D4BA2-9BDA-DC8F-F8A2-0F0305BDBB75}"/>
              </a:ext>
            </a:extLst>
          </p:cNvPr>
          <p:cNvCxnSpPr>
            <a:cxnSpLocks/>
          </p:cNvCxnSpPr>
          <p:nvPr/>
        </p:nvCxnSpPr>
        <p:spPr>
          <a:xfrm flipH="1">
            <a:off x="1801091" y="3287071"/>
            <a:ext cx="3176847" cy="2514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BA886BD-A7FF-31E7-9DFB-17A625DF0599}"/>
              </a:ext>
            </a:extLst>
          </p:cNvPr>
          <p:cNvCxnSpPr>
            <a:cxnSpLocks/>
          </p:cNvCxnSpPr>
          <p:nvPr/>
        </p:nvCxnSpPr>
        <p:spPr>
          <a:xfrm>
            <a:off x="5921433" y="3775758"/>
            <a:ext cx="0" cy="376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929E540A-346F-3FEA-39BE-CF792BFF95B7}"/>
              </a:ext>
            </a:extLst>
          </p:cNvPr>
          <p:cNvSpPr/>
          <p:nvPr/>
        </p:nvSpPr>
        <p:spPr>
          <a:xfrm>
            <a:off x="4485062" y="4185138"/>
            <a:ext cx="2696439" cy="5409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Determine alert type and level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9C075ED-F04B-1DF9-3D0E-E80789322788}"/>
              </a:ext>
            </a:extLst>
          </p:cNvPr>
          <p:cNvCxnSpPr>
            <a:cxnSpLocks/>
          </p:cNvCxnSpPr>
          <p:nvPr/>
        </p:nvCxnSpPr>
        <p:spPr>
          <a:xfrm>
            <a:off x="5921433" y="4726066"/>
            <a:ext cx="0" cy="346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B8431089-E006-7999-4070-A4880244588C}"/>
              </a:ext>
            </a:extLst>
          </p:cNvPr>
          <p:cNvSpPr/>
          <p:nvPr/>
        </p:nvSpPr>
        <p:spPr>
          <a:xfrm>
            <a:off x="3323706" y="5084305"/>
            <a:ext cx="5796741" cy="6531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alert (Equipment ID, parameter, value, recommended action)</a:t>
            </a:r>
            <a:endParaRPr lang="en-ZA" sz="1500" dirty="0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16A1983-1E96-06F5-74D9-4AD37C63C40B}"/>
              </a:ext>
            </a:extLst>
          </p:cNvPr>
          <p:cNvSpPr/>
          <p:nvPr/>
        </p:nvSpPr>
        <p:spPr>
          <a:xfrm>
            <a:off x="4753492" y="6136569"/>
            <a:ext cx="2479963" cy="5080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/ send notification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endParaRPr lang="en-ZA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CA6F003-0624-7EC4-ED0F-06434D14C89A}"/>
              </a:ext>
            </a:extLst>
          </p:cNvPr>
          <p:cNvCxnSpPr>
            <a:cxnSpLocks/>
          </p:cNvCxnSpPr>
          <p:nvPr/>
        </p:nvCxnSpPr>
        <p:spPr>
          <a:xfrm>
            <a:off x="5993474" y="5737450"/>
            <a:ext cx="0" cy="334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633AF38F-CA10-2E95-1370-CF4A41333DCE}"/>
              </a:ext>
            </a:extLst>
          </p:cNvPr>
          <p:cNvSpPr/>
          <p:nvPr/>
        </p:nvSpPr>
        <p:spPr>
          <a:xfrm>
            <a:off x="609427" y="5904945"/>
            <a:ext cx="2034186" cy="77792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Continue monitoring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438E3E0-7899-959F-7544-1D2A66E8929A}"/>
              </a:ext>
            </a:extLst>
          </p:cNvPr>
          <p:cNvCxnSpPr>
            <a:cxnSpLocks/>
          </p:cNvCxnSpPr>
          <p:nvPr/>
        </p:nvCxnSpPr>
        <p:spPr>
          <a:xfrm flipH="1" flipV="1">
            <a:off x="2696259" y="6433708"/>
            <a:ext cx="2109879" cy="3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(i)  </a:t>
            </a:r>
            <a:r>
              <a:rPr lang="en-US" sz="22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Mining Monitoring Dashboard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5288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127455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  <a:tailEnd type="none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 txBox="1"/>
          <p:nvPr/>
        </p:nvSpPr>
        <p:spPr>
          <a:xfrm>
            <a:off x="5038953" y="4315054"/>
            <a:ext cx="2114093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available?</a:t>
            </a:r>
            <a:endParaRPr lang="en-US" sz="120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E295977-622A-3BEE-BCDF-DC6904D433E5}"/>
              </a:ext>
            </a:extLst>
          </p:cNvPr>
          <p:cNvSpPr/>
          <p:nvPr/>
        </p:nvSpPr>
        <p:spPr>
          <a:xfrm>
            <a:off x="5318763" y="784316"/>
            <a:ext cx="1219197" cy="4828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Start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D6BF4AB-A201-CE91-4A76-E9648279A580}"/>
              </a:ext>
            </a:extLst>
          </p:cNvPr>
          <p:cNvCxnSpPr>
            <a:cxnSpLocks/>
          </p:cNvCxnSpPr>
          <p:nvPr/>
        </p:nvCxnSpPr>
        <p:spPr>
          <a:xfrm>
            <a:off x="5922818" y="1267198"/>
            <a:ext cx="0" cy="2429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3E31C4FF-04F9-B911-CCA6-DB8EB348BB00}"/>
              </a:ext>
            </a:extLst>
          </p:cNvPr>
          <p:cNvSpPr/>
          <p:nvPr/>
        </p:nvSpPr>
        <p:spPr>
          <a:xfrm>
            <a:off x="4354484" y="1510145"/>
            <a:ext cx="3147754" cy="5890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Load safety, equipment and maintenance data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2B830A0-92B7-1DD5-6861-CE1D0E7EFDA5}"/>
              </a:ext>
            </a:extLst>
          </p:cNvPr>
          <p:cNvSpPr/>
          <p:nvPr/>
        </p:nvSpPr>
        <p:spPr>
          <a:xfrm>
            <a:off x="3366659" y="2482686"/>
            <a:ext cx="5112317" cy="9143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Calculate dashboard KPIs (workers, incidents, near misses, PPE compliance, equipment status, average availability, alerts)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EBDCEE7-9AD3-D955-DDDC-B37BF7C33FD4}"/>
              </a:ext>
            </a:extLst>
          </p:cNvPr>
          <p:cNvCxnSpPr>
            <a:cxnSpLocks/>
          </p:cNvCxnSpPr>
          <p:nvPr/>
        </p:nvCxnSpPr>
        <p:spPr>
          <a:xfrm>
            <a:off x="5895107" y="2099339"/>
            <a:ext cx="5543" cy="352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158D860-E613-A9FE-CA52-AEE9FB29FA6E}"/>
              </a:ext>
            </a:extLst>
          </p:cNvPr>
          <p:cNvCxnSpPr>
            <a:cxnSpLocks/>
          </p:cNvCxnSpPr>
          <p:nvPr/>
        </p:nvCxnSpPr>
        <p:spPr>
          <a:xfrm>
            <a:off x="5895107" y="3403962"/>
            <a:ext cx="7621" cy="367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B8F5EEDF-4C43-0624-C5A9-151D8B2D3488}"/>
              </a:ext>
            </a:extLst>
          </p:cNvPr>
          <p:cNvSpPr/>
          <p:nvPr/>
        </p:nvSpPr>
        <p:spPr>
          <a:xfrm>
            <a:off x="4492975" y="3799112"/>
            <a:ext cx="2660071" cy="728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Generate dashboard charts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2E52C9D-CD85-37E4-D120-AB800EBCC87A}"/>
              </a:ext>
            </a:extLst>
          </p:cNvPr>
          <p:cNvCxnSpPr>
            <a:cxnSpLocks/>
          </p:cNvCxnSpPr>
          <p:nvPr/>
        </p:nvCxnSpPr>
        <p:spPr>
          <a:xfrm>
            <a:off x="5922818" y="4560085"/>
            <a:ext cx="0" cy="334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7CFA34BE-5279-3375-CB16-3BB410371FF6}"/>
              </a:ext>
            </a:extLst>
          </p:cNvPr>
          <p:cNvSpPr/>
          <p:nvPr/>
        </p:nvSpPr>
        <p:spPr>
          <a:xfrm>
            <a:off x="4634345" y="4926432"/>
            <a:ext cx="2576946" cy="746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Display monitoring dashboard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8FD5D03-6C85-8DCA-2302-E20FB00F19C7}"/>
              </a:ext>
            </a:extLst>
          </p:cNvPr>
          <p:cNvSpPr/>
          <p:nvPr/>
        </p:nvSpPr>
        <p:spPr>
          <a:xfrm>
            <a:off x="5320144" y="6035503"/>
            <a:ext cx="1274620" cy="58435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End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300DA4B-480D-E157-0DDA-559521C4A452}"/>
              </a:ext>
            </a:extLst>
          </p:cNvPr>
          <p:cNvCxnSpPr>
            <a:cxnSpLocks/>
          </p:cNvCxnSpPr>
          <p:nvPr/>
        </p:nvCxnSpPr>
        <p:spPr>
          <a:xfrm>
            <a:off x="5957454" y="5672582"/>
            <a:ext cx="0" cy="335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(j)  </a:t>
            </a:r>
            <a:r>
              <a:rPr lang="en-US" sz="22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Data Analysis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5288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127455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  <a:tailEnd type="none"/>
          </a:ln>
        </p:spPr>
        <p:txBody>
          <a:bodyPr/>
          <a:lstStyle/>
          <a:p>
            <a:endParaRPr lang="en-ZA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578577A-199F-DC47-D15C-080846493B06}"/>
              </a:ext>
            </a:extLst>
          </p:cNvPr>
          <p:cNvSpPr/>
          <p:nvPr/>
        </p:nvSpPr>
        <p:spPr>
          <a:xfrm>
            <a:off x="5431744" y="639180"/>
            <a:ext cx="1223218" cy="5029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Start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40FBA0E-CBDE-7DF9-9C09-8B709283D611}"/>
              </a:ext>
            </a:extLst>
          </p:cNvPr>
          <p:cNvCxnSpPr>
            <a:cxnSpLocks/>
          </p:cNvCxnSpPr>
          <p:nvPr/>
        </p:nvCxnSpPr>
        <p:spPr>
          <a:xfrm>
            <a:off x="6079375" y="1124989"/>
            <a:ext cx="0" cy="310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F77C82EE-D10F-1875-82F0-C09524BC7683}"/>
              </a:ext>
            </a:extLst>
          </p:cNvPr>
          <p:cNvSpPr/>
          <p:nvPr/>
        </p:nvSpPr>
        <p:spPr>
          <a:xfrm>
            <a:off x="4425142" y="1456183"/>
            <a:ext cx="3513514" cy="5897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User selects a mining engineering question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73A23A2-0162-2B97-9C2E-750FCF3A772A}"/>
              </a:ext>
            </a:extLst>
          </p:cNvPr>
          <p:cNvCxnSpPr>
            <a:cxnSpLocks/>
          </p:cNvCxnSpPr>
          <p:nvPr/>
        </p:nvCxnSpPr>
        <p:spPr>
          <a:xfrm>
            <a:off x="6035040" y="2045969"/>
            <a:ext cx="0" cy="324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0734F34-AD48-A81C-0D06-D9350E254551}"/>
              </a:ext>
            </a:extLst>
          </p:cNvPr>
          <p:cNvSpPr/>
          <p:nvPr/>
        </p:nvSpPr>
        <p:spPr>
          <a:xfrm>
            <a:off x="4605112" y="2379727"/>
            <a:ext cx="2978727" cy="6057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Select and filter the relevant data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963BC31-3A6B-9568-9EFD-9931B4AD2CDE}"/>
              </a:ext>
            </a:extLst>
          </p:cNvPr>
          <p:cNvCxnSpPr>
            <a:cxnSpLocks/>
          </p:cNvCxnSpPr>
          <p:nvPr/>
        </p:nvCxnSpPr>
        <p:spPr>
          <a:xfrm>
            <a:off x="6018415" y="2908455"/>
            <a:ext cx="15100" cy="480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326EEEE2-4EC9-8A5C-70D5-F3584A6E5BED}"/>
              </a:ext>
            </a:extLst>
          </p:cNvPr>
          <p:cNvSpPr/>
          <p:nvPr/>
        </p:nvSpPr>
        <p:spPr>
          <a:xfrm>
            <a:off x="4879291" y="3383629"/>
            <a:ext cx="2430367" cy="477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Analyse and summarise data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0A646FE-3B14-4F0A-A78C-CC360B47C06C}"/>
              </a:ext>
            </a:extLst>
          </p:cNvPr>
          <p:cNvCxnSpPr>
            <a:cxnSpLocks/>
          </p:cNvCxnSpPr>
          <p:nvPr/>
        </p:nvCxnSpPr>
        <p:spPr>
          <a:xfrm>
            <a:off x="6043353" y="3861191"/>
            <a:ext cx="0" cy="309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EE172EC2-7701-0655-3B31-6A1B67B68AA5}"/>
              </a:ext>
            </a:extLst>
          </p:cNvPr>
          <p:cNvSpPr/>
          <p:nvPr/>
        </p:nvSpPr>
        <p:spPr>
          <a:xfrm>
            <a:off x="5008418" y="4195085"/>
            <a:ext cx="2069870" cy="5029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Display answer to user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1565FD3-D951-B2AC-C478-453C7F12E098}"/>
              </a:ext>
            </a:extLst>
          </p:cNvPr>
          <p:cNvSpPr/>
          <p:nvPr/>
        </p:nvSpPr>
        <p:spPr>
          <a:xfrm>
            <a:off x="5458412" y="4893843"/>
            <a:ext cx="1241925" cy="5029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>
                <a:solidFill>
                  <a:schemeClr val="tx1"/>
                </a:solidFill>
              </a:rPr>
              <a:t>End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48652B8-7D88-361F-D1C6-2D1905F58E5D}"/>
              </a:ext>
            </a:extLst>
          </p:cNvPr>
          <p:cNvSpPr txBox="1"/>
          <p:nvPr/>
        </p:nvSpPr>
        <p:spPr>
          <a:xfrm>
            <a:off x="3901990" y="5525985"/>
            <a:ext cx="62971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highlight>
                  <a:srgbClr val="0080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Examples of business questions the analysis module can answer</a:t>
            </a:r>
            <a:endParaRPr lang="en-ZA" sz="1500" dirty="0">
              <a:highlight>
                <a:srgbClr val="008000"/>
              </a:highlight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6247744-D7E3-A080-AAA9-E00CD79F8515}"/>
              </a:ext>
            </a:extLst>
          </p:cNvPr>
          <p:cNvSpPr txBox="1"/>
          <p:nvPr/>
        </p:nvSpPr>
        <p:spPr>
          <a:xfrm>
            <a:off x="-292608" y="6044184"/>
            <a:ext cx="406104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500" i="1" dirty="0"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Which department has the</a:t>
            </a:r>
            <a:endParaRPr lang="en-US" sz="1500" dirty="0">
              <a:highlight>
                <a:srgbClr val="FFFF00"/>
              </a:highlight>
            </a:endParaRPr>
          </a:p>
          <a:p>
            <a:pPr marL="0" indent="0" algn="ctr">
              <a:buNone/>
            </a:pPr>
            <a:r>
              <a:rPr lang="en-US" sz="1500" i="1" dirty="0"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highest number of incidents?</a:t>
            </a:r>
            <a:endParaRPr lang="en-US" sz="1500" dirty="0">
              <a:highlight>
                <a:srgbClr val="FFFF00"/>
              </a:highlight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4121B7F-65FF-4442-3CF9-130326BBD58F}"/>
              </a:ext>
            </a:extLst>
          </p:cNvPr>
          <p:cNvSpPr txBox="1"/>
          <p:nvPr/>
        </p:nvSpPr>
        <p:spPr>
          <a:xfrm>
            <a:off x="4200976" y="6060180"/>
            <a:ext cx="31696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i="1" dirty="0"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Which equipment has the</a:t>
            </a:r>
            <a:endParaRPr lang="en-US" sz="1500" dirty="0">
              <a:highlight>
                <a:srgbClr val="FFFF00"/>
              </a:highlight>
            </a:endParaRPr>
          </a:p>
          <a:p>
            <a:pPr algn="ctr"/>
            <a:r>
              <a:rPr lang="en-US" sz="1500" i="1" dirty="0"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lowest availability?</a:t>
            </a:r>
            <a:endParaRPr lang="en-US" sz="1500" dirty="0">
              <a:highlight>
                <a:srgbClr val="FFFF00"/>
              </a:highlight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FA9C59A-56C0-89C6-ACB9-DA72ED71B151}"/>
              </a:ext>
            </a:extLst>
          </p:cNvPr>
          <p:cNvSpPr txBox="1"/>
          <p:nvPr/>
        </p:nvSpPr>
        <p:spPr>
          <a:xfrm>
            <a:off x="8902932" y="6144111"/>
            <a:ext cx="20698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i="1" dirty="0"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Which shift records</a:t>
            </a:r>
            <a:endParaRPr lang="en-US" sz="1500" dirty="0">
              <a:highlight>
                <a:srgbClr val="FFFF00"/>
              </a:highlight>
            </a:endParaRPr>
          </a:p>
          <a:p>
            <a:pPr algn="ctr"/>
            <a:r>
              <a:rPr lang="en-US" sz="1500" i="1" dirty="0"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the most incidents?</a:t>
            </a:r>
            <a:endParaRPr lang="en-US" sz="1500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0C0ED71821CD4F9CFF507CE1363770" ma:contentTypeVersion="6" ma:contentTypeDescription="Create a new document." ma:contentTypeScope="" ma:versionID="b373d85ac473319d454c4d7a9ee8df0a">
  <xsd:schema xmlns:xsd="http://www.w3.org/2001/XMLSchema" xmlns:xs="http://www.w3.org/2001/XMLSchema" xmlns:p="http://schemas.microsoft.com/office/2006/metadata/properties" xmlns:ns3="f2505d52-8491-43f7-b323-35ae6109672c" targetNamespace="http://schemas.microsoft.com/office/2006/metadata/properties" ma:root="true" ma:fieldsID="a4f361c8efa2a843d78dae306adf040d" ns3:_="">
    <xsd:import namespace="f2505d52-8491-43f7-b323-35ae6109672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505d52-8491-43f7-b323-35ae6109672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1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E5AE334-05D8-40C4-98FE-E05E7FD5D5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2505d52-8491-43f7-b323-35ae610967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8D10448-D16E-41BA-AF30-EAF8F8481C9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23F6ECE-CC93-4F1E-9618-A1240AC686A5}">
  <ds:schemaRefs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terms/"/>
    <ds:schemaRef ds:uri="f2505d52-8491-43f7-b323-35ae6109672c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3404</TotalTime>
  <Words>643</Words>
  <Application>Microsoft Office PowerPoint</Application>
  <PresentationFormat>Widescreen</PresentationFormat>
  <Paragraphs>173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Aluncedo Ntantala</cp:lastModifiedBy>
  <cp:revision>4</cp:revision>
  <dcterms:created xsi:type="dcterms:W3CDTF">2026-09-14T22:20:26Z</dcterms:created>
  <dcterms:modified xsi:type="dcterms:W3CDTF">2026-10-27T11:51:48Z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0x010100450C0ED71821CD4F9CFF507CE1363770</vt:lpwstr>
  </property>
</Properties>
</file>